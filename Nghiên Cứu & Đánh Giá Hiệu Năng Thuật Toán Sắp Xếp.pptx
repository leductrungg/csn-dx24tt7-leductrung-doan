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  <ns0:regular ns1:id="rIdFont21"/>
    </ns0:embeddedFont>
    <ns0:embeddedFont>
      <ns0:font typeface="Plus Jakarta Sans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f3535d55-27ee-4201-afd5-ced98fb93040.fntdata" /><ns0:Relationship Id="rIdFont21" Type="http://schemas.openxmlformats.org/officeDocument/2006/relationships/font" Target="fonts/3fb053b0-1061-4526-8ee7-7fb46be11458.fntdata" /><ns0:Relationship Id="rIdFont22" Type="http://schemas.openxmlformats.org/officeDocument/2006/relationships/font" Target="fonts/39d6120f-7824-4cae-99b8-6645c9daf6ef.fntdata" /><ns0:Relationship Id="rIdFont23" Type="http://schemas.openxmlformats.org/officeDocument/2006/relationships/font" Target="fonts/8608770a-bd6e-48e2-b7dd-0c3eaa58dc5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854547"/>
            <a:ext cx="10972800" cy="16344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46177"/>
            <a:ext cx="10972800" cy="1057275"/>
          </a:xfrm>
          <a:prstGeom prst="roundRect">
            <a:avLst>
              <a:gd name="adj" fmla="val 1081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854547"/>
            <a:ext cx="38100" cy="163443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1237" y="4174777"/>
            <a:ext cx="9525" cy="6000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1854547"/>
            <a:ext cx="11315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Plus Jakarta Sans"/>
              </a:rPr>
              <a:t>ĐỒ ÁN THỰC TẬP CƠ SỞ NGÀNH • KHOA CÔNG NGHỆ THÔNG 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130772"/>
            <a:ext cx="1131570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Nghiên Cứu, Cài Đặt &amp; Đánh Giá Hiệu Năng</a:t>
            </a:r>
            <a:r>
              <a:t>
</a:t>
            </a:r>
            <a:r>
              <a:rPr b="1" sz="3300" i="0" u="none">
                <a:solidFill>
                  <a:srgbClr val="F8FAFC"/>
                </a:solidFill>
                <a:latin typeface="Plus Jakarta Sans"/>
              </a:rPr>
              <a:t> Các Thuật Toán Sắp Xếp Nội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50852"/>
            <a:ext cx="11315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Ứng dụng trong bài toán Quản lý Danh sách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174777"/>
            <a:ext cx="60900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Sinh viên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384327"/>
            <a:ext cx="60900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LÊ ĐỨC TRUNG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603402"/>
            <a:ext cx="60900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MSSV: 170124740 • Lớp DX24TT7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1762" y="4174777"/>
            <a:ext cx="57102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Giảng viên hướng dẫn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1762" y="4384327"/>
            <a:ext cx="57102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TS. NGUYỄN NHỨT LAM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1762" y="4603402"/>
            <a:ext cx="57102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Trường ĐH Trà Vinh • 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0712"/>
            <a:ext cx="52959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90887"/>
            <a:ext cx="52959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91062"/>
            <a:ext cx="52959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890712"/>
            <a:ext cx="38100" cy="12096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290887"/>
            <a:ext cx="38100" cy="12096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91062"/>
            <a:ext cx="38100" cy="12096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85975"/>
            <a:ext cx="52959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5975"/>
            <a:ext cx="5295900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157412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557587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957762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1 • TỔNG QUAN ĐỀ TÀI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Đặt Vấn Đề &amp; Mục Tiêu Nghiên Cứu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119312"/>
            <a:ext cx="630078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Nhu cầu thực tế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41458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Hệ thống quản lý đào tạo cần xử lý từ vài nghìn đến hàng trăm nghìn hồ sơ sinh viên với các thao tác sắp xếp theo MSSV, GPA, Họ tên.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519487"/>
            <a:ext cx="6300787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Sắp xếp nội (Internal Sort)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3814762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Toàn bộ danh sách dữ liệu được nạp và thao tác trực tiếp trên bộ nhớ RAM, tối ưu tốc độ truy xuất ngẫu nhiên.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919662"/>
            <a:ext cx="6300787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Mục tiêu đồ 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214937"/>
            <a:ext cx="4895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Cài đặt 5 thuật toán cơ bản &amp; cải tiến bằng C++, đo chính xác thời gian thực thi để đưa ra khuyến nghị tối ưu.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1750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71750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71750"/>
            <a:ext cx="3505200" cy="2647950"/>
          </a:xfrm>
          <a:prstGeom prst="roundRect">
            <a:avLst>
              <a:gd name="adj" fmla="val 43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200" y="4714875"/>
            <a:ext cx="1057275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4714875"/>
            <a:ext cx="142875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5800" y="4714875"/>
            <a:ext cx="1428750" cy="238125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65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765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87655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262" y="3009900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350" y="3009900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300990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1 • LÝ THUYẾT THUẬT TOÁN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Nhóm Thuật Toán Đơn Giản O(N²)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524250"/>
            <a:ext cx="4000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Selection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876675"/>
            <a:ext cx="314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Chia mảng thành 2 phần. Liên tục tìm phần tử cực trị từ phần chưa sắp xếp và hoán đổi về đầu mảng.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4752975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Space Grotesk"/>
              </a:rPr>
              <a:t>Tốt/Xấu: O(N²)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24250"/>
            <a:ext cx="4000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Insertion 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76675"/>
            <a:ext cx="314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Duyệt từng phần tử và chèn vào đúng vị trí thích hợp trong dãy con đã sắp xếp phía trước.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7250" y="4752975"/>
            <a:ext cx="1333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47857"/>
                </a:solidFill>
                <a:latin typeface="Space Grotesk"/>
              </a:rPr>
              <a:t>Tốt: O(N) | Xấu: O(N²)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524250"/>
            <a:ext cx="388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Bubble 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3876675"/>
            <a:ext cx="314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So sánh liên tục từng cặp phần tử kề nhau và đổi chỗ nếu sai thứ tự cho đến khi mảng hoàn tất.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1050" y="4752975"/>
            <a:ext cx="1333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Space Grotesk"/>
              </a:rPr>
              <a:t>Tốt: O(N) | Xấu: O(N²)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228850"/>
            <a:ext cx="52959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4010025"/>
            <a:ext cx="52959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0" y="2228850"/>
            <a:ext cx="38100" cy="1552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4010025"/>
            <a:ext cx="38100" cy="1552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01325" y="2500312"/>
            <a:ext cx="714375" cy="2286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0" y="4281487"/>
            <a:ext cx="800100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52959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85975"/>
            <a:ext cx="52959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1 • LÝ THUYẾT THUẬT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Nhóm Thuật Toán Cải Tiến O(N log 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2809875"/>
            <a:ext cx="48196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Chọn phần tử chốt (Pivot), phân chia mảng thành 2 phần (nhỏ hơn và lớn hơn Pivot) rồi đệ quy sắp xếp.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352800"/>
            <a:ext cx="5600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Space Grotesk"/>
              </a:rPr>
              <a:t>Độ phức tạp:</a:t>
            </a:r>
            <a:r>
              <a:rPr b="0" sz="975" i="0" u="none">
                <a:solidFill>
                  <a:srgbClr val="64748B"/>
                </a:solidFill>
                <a:latin typeface="Space Grotesk"/>
              </a:rPr>
              <a:t> Trung bình: O(N log N) • Xấu nhất: O(N²)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4591050"/>
            <a:ext cx="48196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Chia đôi mảng thành 2 dãy con, đệ quy sắp xếp từng nửa rồi trộn (Merge) 2 dãy con đã sắp xếp lại.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5133975"/>
            <a:ext cx="56007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Space Grotesk"/>
              </a:rPr>
              <a:t>Độ phức tạp:</a:t>
            </a:r>
            <a:r>
              <a:rPr b="0" sz="975" i="0" u="none">
                <a:solidFill>
                  <a:srgbClr val="64748B"/>
                </a:solidFill>
                <a:latin typeface="Space Grotesk"/>
              </a:rPr>
              <a:t> Luôn là O(N log N) • Bộ nhớ phụ: 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2495550"/>
            <a:ext cx="134016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Quick 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77525" y="2538412"/>
            <a:ext cx="657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Space Grotesk"/>
              </a:rPr>
              <a:t>Chia để trị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4276725"/>
            <a:ext cx="13701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Merge 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800" y="4319587"/>
            <a:ext cx="742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47857"/>
                </a:solidFill>
                <a:latin typeface="Space Grotesk"/>
              </a:rPr>
              <a:t>Trộn đệ quy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52550"/>
            <a:ext cx="10972800" cy="504825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2390775"/>
          <a:ext cx="10820398" cy="29718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76710"/>
                <a:gridCol w="1776710"/>
                <a:gridCol w="2401788"/>
                <a:gridCol w="1825823"/>
                <a:gridCol w="1494978"/>
                <a:gridCol w="1544389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Thuật toán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Thời gian (Tốt)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Thời gian (Trung bình)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Thời gian (Xấu)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Bộ nhớ phụ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Tính ổn định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Selection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Không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Insertion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Space Grotesk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Bubble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Space Grotesk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Quick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2563EB"/>
                          </a:solidFill>
                          <a:latin typeface="Space Grotesk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2563EB"/>
                          </a:solidFill>
                          <a:latin typeface="Space Grotesk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Space Grotesk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O(log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Không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Merge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59669"/>
                          </a:solidFill>
                          <a:latin typeface="Space Grotesk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59669"/>
                          </a:solidFill>
                          <a:latin typeface="Space Grotesk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59669"/>
                          </a:solidFill>
                          <a:latin typeface="Space Grotesk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D97706"/>
                          </a:solidFill>
                          <a:latin typeface="Space Grotesk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1 • SO SÁNH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Bảng So Sánh Bậc Độ Phức Tạp Thuật Toán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409825"/>
            <a:ext cx="6026794" cy="2933700"/>
          </a:xfrm>
          <a:prstGeom prst="roundRect">
            <a:avLst>
              <a:gd name="adj" fmla="val 38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52700"/>
            <a:ext cx="4641205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1925"/>
            <a:ext cx="4641205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2 • CÀI ĐẶT CHƯƠNG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Cấu Trúc Dữ Liệu &amp; Bộ Đo Thời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4205" y="2638425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Space Grotesk"/>
              </a:rPr>
              <a:t>// Struct SinhVien &amp; Bo do chrono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4205" y="2914650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Grotesk"/>
              </a:rPr>
              <a:t>struct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</a:t>
            </a:r>
            <a:r>
              <a:rPr b="0" sz="1050" i="0" u="none">
                <a:solidFill>
                  <a:srgbClr val="38BDF8"/>
                </a:solidFill>
                <a:latin typeface="Space Grotesk"/>
              </a:rPr>
              <a:t>SinhVien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6605" y="3114675"/>
            <a:ext cx="62553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Grotesk"/>
              </a:rPr>
              <a:t>std::string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maSV;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6605" y="3314700"/>
            <a:ext cx="62553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Grotesk"/>
              </a:rPr>
              <a:t>std::string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hoTen;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6605" y="3514725"/>
            <a:ext cx="62553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Grotesk"/>
              </a:rPr>
              <a:t>double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gpa;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4205" y="3714750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Space Grotesk"/>
              </a:rPr>
              <a:t>};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205" y="4114800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Space Grotesk"/>
              </a:rPr>
              <a:t>// Do thoi gian chay thuat toan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4205" y="4314825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Grotesk"/>
              </a:rPr>
              <a:t>auto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start = </a:t>
            </a:r>
            <a:r>
              <a:rPr b="0" sz="1050" i="0" u="none">
                <a:solidFill>
                  <a:srgbClr val="38BDF8"/>
                </a:solidFill>
                <a:latin typeface="Space Grotesk"/>
              </a:rPr>
              <a:t>chrono::high_resolution_clock::now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4205" y="4514850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BBF24"/>
                </a:solidFill>
                <a:latin typeface="Space Grotesk"/>
              </a:rPr>
              <a:t>quickSort(dsSinhVien, 0, n - 1);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4205" y="4714875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Grotesk"/>
              </a:rPr>
              <a:t>auto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end = </a:t>
            </a:r>
            <a:r>
              <a:rPr b="0" sz="1050" i="0" u="none">
                <a:solidFill>
                  <a:srgbClr val="38BDF8"/>
                </a:solidFill>
                <a:latin typeface="Space Grotesk"/>
              </a:rPr>
              <a:t>chrono::high_resolution_clock::now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4205" y="4914900"/>
            <a:ext cx="64077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43F5E"/>
                </a:solidFill>
                <a:latin typeface="Space Grotesk"/>
              </a:rPr>
              <a:t>double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 time = </a:t>
            </a:r>
            <a:r>
              <a:rPr b="0" sz="1050" i="0" u="none">
                <a:solidFill>
                  <a:srgbClr val="38BDF8"/>
                </a:solidFill>
                <a:latin typeface="Space Grotesk"/>
              </a:rPr>
              <a:t>chrono::duration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&lt;</a:t>
            </a:r>
            <a:r>
              <a:rPr b="0" sz="1050" i="0" u="none">
                <a:solidFill>
                  <a:srgbClr val="F43F5E"/>
                </a:solidFill>
                <a:latin typeface="Space Grotesk"/>
              </a:rPr>
              <a:t>double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, </a:t>
            </a:r>
            <a:r>
              <a:rPr b="0" sz="1050" i="0" u="none">
                <a:solidFill>
                  <a:srgbClr val="38BDF8"/>
                </a:solidFill>
                <a:latin typeface="Space Grotesk"/>
              </a:rPr>
              <a:t>milli</a:t>
            </a:r>
            <a:r>
              <a:rPr b="0" sz="1050" i="0" u="none">
                <a:solidFill>
                  <a:srgbClr val="E2E8F0"/>
                </a:solidFill>
                <a:latin typeface="Space Grotesk"/>
              </a:rPr>
              <a:t>&gt;(end - start).count();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781300"/>
            <a:ext cx="54915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Struct SinhVien (C++)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114675"/>
            <a:ext cx="427925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Được thiết kế gọn nhẹ chứa thông tin cần thiết: Mã số sinh viên (</a:t>
            </a:r>
            <a:r>
              <a:rPr b="0" sz="1125" i="0" u="none">
                <a:solidFill>
                  <a:srgbClr val="2563EB"/>
                </a:solidFill>
                <a:latin typeface="Plus Jakarta Sans"/>
              </a:rPr>
              <a:t>maSV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), Họ tên (</a:t>
            </a:r>
            <a:r>
              <a:rPr b="0" sz="1125" i="0" u="none">
                <a:solidFill>
                  <a:srgbClr val="2563EB"/>
                </a:solidFill>
                <a:latin typeface="Plus Jakarta Sans"/>
              </a:rPr>
              <a:t>hoTen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), Điểm trung bình (</a:t>
            </a:r>
            <a:r>
              <a:rPr b="0" sz="1125" i="0" u="none">
                <a:solidFill>
                  <a:srgbClr val="2563EB"/>
                </a:solidFill>
                <a:latin typeface="Plus Jakarta Sans"/>
              </a:rPr>
              <a:t>gpa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200525"/>
            <a:ext cx="54915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Đo Thời Gian Với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533900"/>
            <a:ext cx="427925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Sử dụng </a:t>
            </a:r>
            <a:r>
              <a:rPr b="0" sz="1125" i="0" u="none">
                <a:solidFill>
                  <a:srgbClr val="059669"/>
                </a:solidFill>
                <a:latin typeface="Plus Jakarta Sans"/>
              </a:rPr>
              <a:t>high_resolution_clock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đo thời gian chạy thực tế theo đơn vị miligiây (ms) cho độ chính xác cao.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76575"/>
            <a:ext cx="2600325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334327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37" y="3343275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912" y="3343275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787" y="3343275"/>
            <a:ext cx="3429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3 • THỰC NGHIỆM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Cấu Hình Phần Cứng &amp; Kịch Bản Mẫu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30" y="3800475"/>
            <a:ext cx="29128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Bộ xử lý (CPU)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684" y="4076700"/>
            <a:ext cx="2774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2563EB"/>
                </a:solidFill>
                <a:latin typeface="Space Grotesk"/>
              </a:rPr>
              <a:t>Intel i5-12400F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684" y="4295775"/>
            <a:ext cx="2774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2.50 GHz (12 CPUs)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4155" y="3800475"/>
            <a:ext cx="29128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Bộ nhớ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3509" y="4076700"/>
            <a:ext cx="2774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59669"/>
                </a:solidFill>
                <a:latin typeface="Space Grotesk"/>
              </a:rPr>
              <a:t>16 GB DDR4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3509" y="4295775"/>
            <a:ext cx="2774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Bus 3200 MHz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4980" y="3800475"/>
            <a:ext cx="29128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Trình biên dịch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4334" y="4076700"/>
            <a:ext cx="2774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D97706"/>
                </a:solidFill>
                <a:latin typeface="Space Grotesk"/>
              </a:rPr>
              <a:t>GCC 12.2.0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4334" y="4295775"/>
            <a:ext cx="2774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Cờ tối ưu: -O2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5805" y="3800475"/>
            <a:ext cx="291286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Quy mô thử nghiệm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5159" y="4076700"/>
            <a:ext cx="2774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7C3AED"/>
                </a:solidFill>
                <a:latin typeface="Space Grotesk"/>
              </a:rPr>
              <a:t>N = 1k → 100k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5159" y="4295775"/>
            <a:ext cx="2774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Dữ liệu ngẫu nhiên (5 lần)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14450"/>
            <a:ext cx="10972800" cy="5086350"/>
          </a:xfrm>
          <a:prstGeom prst="roundRect">
            <a:avLst>
              <a:gd name="adj" fmla="val 22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95325" y="2714625"/>
          <a:ext cx="10801347" cy="22860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44154"/>
                <a:gridCol w="1912292"/>
                <a:gridCol w="1846361"/>
                <a:gridCol w="1819870"/>
                <a:gridCol w="1569392"/>
                <a:gridCol w="160927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Số lượng SV 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Selection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Insertion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Bubble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1D4ED8"/>
                          </a:solidFill>
                          <a:latin typeface="Plus Jakarta Sans"/>
                        </a:rPr>
                        <a:t>Quick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Merge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 = 1.000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3.12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1.85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5.42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2563EB"/>
                          </a:solidFill>
                          <a:latin typeface="Space Grotesk"/>
                        </a:rPr>
                        <a:t>0.18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59669"/>
                          </a:solidFill>
                          <a:latin typeface="Space Grotesk"/>
                        </a:rPr>
                        <a:t>0.25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 = 10.000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285.40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162.10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1E293B"/>
                          </a:solidFill>
                          <a:latin typeface="Space Grotesk"/>
                        </a:rPr>
                        <a:t>512.30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2563EB"/>
                          </a:solidFill>
                          <a:latin typeface="Space Grotesk"/>
                        </a:rPr>
                        <a:t>2.10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59669"/>
                          </a:solidFill>
                          <a:latin typeface="Space Grotesk"/>
                        </a:rPr>
                        <a:t>2.80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 = 50.000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DC2626"/>
                          </a:solidFill>
                          <a:latin typeface="Space Grotesk"/>
                        </a:rPr>
                        <a:t>7.120,50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DC2626"/>
                          </a:solidFill>
                          <a:latin typeface="Space Grotesk"/>
                        </a:rPr>
                        <a:t>4.080,20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125" i="0" u="none">
                          <a:solidFill>
                            <a:srgbClr val="DC2626"/>
                          </a:solidFill>
                          <a:latin typeface="Space Grotesk"/>
                        </a:rPr>
                        <a:t>12.890,10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2563EB"/>
                          </a:solidFill>
                          <a:latin typeface="Space Grotesk"/>
                        </a:rPr>
                        <a:t>11.50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59669"/>
                          </a:solidFill>
                          <a:latin typeface="Space Grotesk"/>
                        </a:rPr>
                        <a:t>15.20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 = 100.000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DC2626"/>
                          </a:solidFill>
                          <a:latin typeface="Space Grotesk"/>
                        </a:rPr>
                        <a:t>28.540,10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DC2626"/>
                          </a:solidFill>
                          <a:latin typeface="Space Grotesk"/>
                        </a:rPr>
                        <a:t>16.350,00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DC2626"/>
                          </a:solidFill>
                          <a:latin typeface="Space Grotesk"/>
                        </a:rPr>
                        <a:t>51.600,00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2563EB"/>
                          </a:solidFill>
                          <a:latin typeface="Space Grotesk"/>
                        </a:rPr>
                        <a:t>24.30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25" i="0" u="none">
                          <a:solidFill>
                            <a:srgbClr val="059669"/>
                          </a:solidFill>
                          <a:latin typeface="Space Grotesk"/>
                        </a:rPr>
                        <a:t>32.10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3 • KẾT QUẢ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Thời Gian Thực Thi Trung Bình (Đơn vị: 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14450"/>
            <a:ext cx="10972800" cy="508635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2695575"/>
            <a:ext cx="10363200" cy="190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3286125"/>
            <a:ext cx="10363200" cy="190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76675"/>
            <a:ext cx="10363200" cy="190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4467225"/>
            <a:ext cx="10363200" cy="190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057775"/>
            <a:ext cx="10363200" cy="1905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695575"/>
            <a:ext cx="10363200" cy="1905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286125"/>
            <a:ext cx="5699670" cy="1905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876675"/>
            <a:ext cx="3212455" cy="19050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467225"/>
            <a:ext cx="207168" cy="1905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5057775"/>
            <a:ext cx="155376" cy="190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3 • BIỂU ĐỒ SO SÁNH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Trực Quan Tốc Độ Khi Sắp Xếp 100.000 Sinh Viên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66975"/>
            <a:ext cx="10382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Bubble 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466975"/>
            <a:ext cx="1821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Space Grotesk"/>
              </a:rPr>
              <a:t>51.600 ms (~51.6 giây)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57525"/>
            <a:ext cx="1190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Selection 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1225" y="3057525"/>
            <a:ext cx="1845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28.540 ms (~28.5 giây)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48075"/>
            <a:ext cx="114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Insertion 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0" y="3648075"/>
            <a:ext cx="1833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Space Grotesk"/>
              </a:rPr>
              <a:t>16.350 ms (~16.3 giây)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38625"/>
            <a:ext cx="1000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Merge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2675" y="4238625"/>
            <a:ext cx="1631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Space Grotesk"/>
              </a:rPr>
              <a:t>32.1 ms (0.032 giây)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29175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Quick Sort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4575" y="4829175"/>
            <a:ext cx="1678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24.3 ms (0.024 giây)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5230117" cy="2114550"/>
          </a:xfrm>
          <a:prstGeom prst="roundRect">
            <a:avLst>
              <a:gd name="adj" fmla="val 720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0717" y="3114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0717" y="39909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CHƯƠNG 3 • ĐÁNH GIÁ HIỆU NĂNG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Phân Tích Chi Tiết Kết Quả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85" y="3219450"/>
            <a:ext cx="558514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2563EB"/>
                </a:solidFill>
                <a:latin typeface="Space Grotesk"/>
              </a:rPr>
              <a:t>2.123×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85" y="4133850"/>
            <a:ext cx="558514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40AF"/>
                </a:solidFill>
                <a:latin typeface="Plus Jakarta Sans"/>
              </a:rPr>
              <a:t>Tốc độ Quick Sort nhanh hơn Bubble Sort ở quy mô 100.000 sinh viên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7842" y="311467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DC2626"/>
                </a:solidFill>
                <a:latin typeface="Plus Jakarta San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7842" y="399097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16A34A"/>
                </a:solidFill>
                <a:latin typeface="Plus Jakarta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6017" y="3114675"/>
            <a:ext cx="54759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Nhóm thuật toán O(N²) không khả thi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6017" y="3371850"/>
            <a:ext cx="496163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Bubble Sort tốn thời gian nhất do thao tác Swap liên tục trong bộ nhớ. Khi N ≥ 50.000, thời gian chờ vượt quá 10 giây.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6017" y="3990975"/>
            <a:ext cx="547598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Nhóm thuật toán O(N log N) vượt trội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6017" y="4248150"/>
            <a:ext cx="496163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Quick Sort và Merge Sort phản ánh đúng lý thuyết, xử lý 100.000 bản ghi tức thì (dưới 35 miligiây).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90650"/>
            <a:ext cx="5334000" cy="5010150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19262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719262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Kết Luận &amp; Hướng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1695450"/>
            <a:ext cx="590073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Plus Jakarta Sans"/>
              </a:rPr>
              <a:t>Kết Luận Đồ 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8950" y="1695450"/>
            <a:ext cx="53530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59669"/>
                </a:solidFill>
                <a:latin typeface="Plus Jakarta Sans"/>
              </a:rPr>
              <a:t>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597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Hệ thống hóa lý thuyết: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Nắm vững cơ chế hoạt động của 5 thuật toán sắp xếp nội.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8127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Cài đặt hoàn chỉnh: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Xây dựng ứng dụng C++ thử nghiệm chính xác với bộ đo chrono.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7657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Khuyến nghị thực tế: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Luôn ưu tiên Quick Sort / Merge Sort cho danh sách &gt; 1.000 sinh viên.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08597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Sắp xếp ngoại (External Sort):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Nghiên cứu khi dữ liệu vượt quá dung lượng 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58127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Giao diện đồ họa (GUI):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Trực quan hóa từng bước chạy thuật toán hỗ trợ giảng dạy.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076575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Xử lý song song: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Áp dụng OpenMP / Multi-threading tối ưu trên CPU đa nhân.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05325" y="4381500"/>
            <a:ext cx="3181350" cy="4476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288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2" y="2200275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1675" y="2867025"/>
            <a:ext cx="918864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CẢM ƠN THẦY CÔ VÀ CÁC BẠN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60045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Em xin chân thành cảm ơn TS. Nguyễn Nhứt Lam đã tận tình hướng dẫn hoàn thành đồ án này.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2937" y="4505325"/>
            <a:ext cx="3286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0A5FA"/>
                </a:solidFill>
                <a:latin typeface="Space Grotesk"/>
              </a:rPr>
              <a:t>Q&amp;A • TRẢ LỜI CÂU HỎI BẢO VỆ ĐỒ ÁN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1100" y="131445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1100" y="207645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1100" y="207645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4573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2669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100" y="10287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475" y="1495425"/>
            <a:ext cx="833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https://media.geeksforgeeks.org/wp-content/uploads/20260123110644215426/application_program-1.webp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6475" y="1695450"/>
            <a:ext cx="3012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www.geeksforgeeks.org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75" y="2228850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https://www.slidegeeks.com/media/catalog/product/cache/560x315/P/e/Performance_Tracking_Dashboard_For_Software_Development_Life_Cycle_Structure_PDF_Slide_1.jpg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75" y="2581275"/>
            <a:ext cx="2738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www.slidegeeks.com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